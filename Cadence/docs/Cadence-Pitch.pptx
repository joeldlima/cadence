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429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29000"/>
            <a:ext cx="12191695" cy="3429000"/>
          </a:xfrm>
          <a:prstGeom prst="rect">
            <a:avLst/>
          </a:prstGeom>
          <a:solidFill>
            <a:srgbClr val="1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274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RAZORPAY BUILDATHON  /  TRACK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25C2A"/>
                </a:solidFill>
                <a:latin typeface="Calibri"/>
              </a:rPr>
              <a:t>AUTONOMOUS REVENUE DEFENSE  /  INDIA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7432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2000" b="1" i="1">
                <a:solidFill>
                  <a:srgbClr val="FFFFFF"/>
                </a:solidFill>
                <a:latin typeface="Cambria"/>
              </a:rPr>
              <a:t>Cadence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0">
                <a:solidFill>
                  <a:srgbClr val="FFFFFF"/>
                </a:solidFill>
                <a:latin typeface="Calibri"/>
              </a:rPr>
              <a:t>Recurring payments for India's subscription economy.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F25C2A"/>
                </a:solidFill>
                <a:latin typeface="Calibri"/>
              </a:rPr>
              <a:t>+25.8% mean recovery lift  /  5 seeds  /  Rs. 40,469 recovered  /  274 hash-chained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7A8599"/>
                </a:solidFill>
                <a:latin typeface="Calibri"/>
              </a:rPr>
              <a:t>Joel Dlima  /  github.com/JoelDlima/Revive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0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80192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44784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009376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73968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338560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503152" y="5943600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0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80192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844784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009376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173968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338560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503152" y="6108192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515600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680192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844784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009376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73968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38560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503152" y="6272784"/>
            <a:ext cx="45720" cy="45720"/>
          </a:xfrm>
          <a:prstGeom prst="ellipse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0B1220"/>
                </a:solidFill>
                <a:latin typeface="Calibri"/>
              </a:rPr>
              <a:t>India's silent payment leak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5943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0" b="1" i="0">
                <a:solidFill>
                  <a:srgbClr val="0B1220"/>
                </a:solidFill>
                <a:latin typeface="Calibri"/>
              </a:rPr>
              <a:t>Rs. 2,300 cr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7A8599"/>
                </a:solidFill>
                <a:latin typeface="Calibri"/>
              </a:rPr>
              <a:t>annual merchant leak to failed recurring payments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2011680"/>
            <a:ext cx="4937760" cy="11887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2194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30-40%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7249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of UPI AutoPay mandates fail on the first attempt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3364992"/>
            <a:ext cx="4937760" cy="11887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3547872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&lt; 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078224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of failed subscriptions ever recovered by the merchant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4718304"/>
            <a:ext cx="4937760" cy="11887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4901184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&lt; 30 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5431536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is the median time Cadence takes to fire a recovery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0" i="1">
                <a:solidFill>
                  <a:srgbClr val="0B1220"/>
                </a:solidFill>
                <a:latin typeface="Calibri"/>
              </a:rPr>
              <a:t>Money your customers authorised yesterday is gone by lunchtime.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600" b="1" i="0">
                <a:solidFill>
                  <a:srgbClr val="0B1220"/>
                </a:solidFill>
                <a:latin typeface="Calibri"/>
              </a:rPr>
              <a:t>Three forces converge in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5C2A"/>
                </a:solidFill>
                <a:latin typeface="Calibri"/>
              </a:rPr>
              <a:t>VOLUME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79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220"/>
                </a:solidFill>
                <a:latin typeface="Calibri"/>
              </a:rPr>
              <a:t>UPI AutoPay at scale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974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Razorpay's UPI AutoPay transaction volume grew 4x between 2023 and 2025. With scale, the failure rate compounds. India now runs the world's largest recurring payment rail; the leak is no longer theoretical.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79"/>
            <a:ext cx="3383279" cy="10972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37667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4x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25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growth in 2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3736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5C2A"/>
                </a:solidFill>
                <a:latin typeface="Calibri"/>
              </a:rPr>
              <a:t>REGULATION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11679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220"/>
                </a:solidFill>
                <a:latin typeface="Calibri"/>
              </a:rPr>
              <a:t>RBI + NPCI tightening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974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NPCI's 18-hour UPI mandate cooling rule and RBI's 24-hour pre-debit notification are now hard law. Merchants that violate them lose their license. The compliance bar is now the moat - a hand-rolled script can't pass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5212079"/>
            <a:ext cx="3383279" cy="10972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537667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5925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hard-veto rules in Guardian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173736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25C2A"/>
                </a:solidFill>
                <a:latin typeface="Calibri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011679"/>
            <a:ext cx="33832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220"/>
                </a:solidFill>
                <a:latin typeface="Calibri"/>
              </a:rPr>
              <a:t>LLMs in the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19" y="2697480"/>
            <a:ext cx="338327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Hinglish is the customer-facing language. Multilingual LLMs + voice models (Sarvam Bulbul v2, ElevenLabs) make personalised recovery possible at a price per nudge a team of humans can't match.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19" y="5212079"/>
            <a:ext cx="3383279" cy="10972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5376671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&lt; 4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59253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median recovery latency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B1220"/>
                </a:solidFill>
                <a:latin typeface="Calibri"/>
              </a:rPr>
              <a:t>Razorpay fires a webhook. Cadence does the rest.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320040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1274552" cy="8686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2745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1" i="0">
                <a:solidFill>
                  <a:srgbClr val="F25C2A"/>
                </a:solidFill>
                <a:latin typeface="Calibri"/>
              </a:rPr>
              <a:t>Detect failure  /  Decide the right intervention  /  Execute on Razorpay  /  Record the 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 i="0">
                <a:solidFill>
                  <a:srgbClr val="E5E7E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0B1220"/>
                </a:solidFill>
                <a:latin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9-rule Guardian classifies every webhook into one of 9 failure modes. NPCI 18-h cooling, RBI 24-h advance, RBI quiet hours, hard-decline stop - all enforced before any money moves.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3017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 i="0">
                <a:solidFill>
                  <a:srgbClr val="E5E7EB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931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0B1220"/>
                </a:solidFill>
                <a:latin typeface="Calibri"/>
              </a:rPr>
              <a:t>Decide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448056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LinUCB contextual bandit ranks the legal moves. LLM writes the Hinglish body. Mean uplift +25.8% over Razorpay Smart Retries, measured across 5 independent seeds.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7200" b="1" i="0">
                <a:solidFill>
                  <a:srgbClr val="E5E7E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93192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0B1220"/>
                </a:solidFill>
                <a:latin typeface="Calibri"/>
              </a:rPr>
              <a:t>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480560"/>
            <a:ext cx="3749039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B1220"/>
                </a:solidFill>
                <a:latin typeface="Calibri"/>
              </a:rPr>
              <a:t>SHA-256 hash-chained audit ledger. /api/audit/verify returns chain_ok=true. Every action has an I saw / I considered / I acted chain the merchant or regulator can replay.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B1220"/>
                </a:solidFill>
                <a:latin typeface="Calibri"/>
              </a:rPr>
              <a:t>4 layers  /  no async queue  /  no Kubernetes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01168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1274552" cy="50292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12745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TRIGGER  -  Razorpay payment.failed webhook (HMAC-SHA256 verified)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4028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7A8599"/>
                </a:solidFill>
                <a:latin typeface="Calibri"/>
              </a:rPr>
              <a:t>5 events subscribed: subscription.pending, subscription.halted, payment.failed, payment.captured, payment_link.paid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" y="2167128"/>
            <a:ext cx="0" cy="292608"/>
          </a:xfrm>
          <a:prstGeom prst="line">
            <a:avLst/>
          </a:prstGeom>
          <a:ln w="31750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441448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CLASSIFY  -  9-rule Guardian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441448"/>
            <a:ext cx="5486400" cy="4572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5352" y="2441448"/>
            <a:ext cx="5486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DECIDE  -  Bandit + LLM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4476" y="2916936"/>
            <a:ext cx="0" cy="292608"/>
          </a:xfrm>
          <a:prstGeom prst="line">
            <a:avLst/>
          </a:prstGeom>
          <a:ln w="31750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457200" y="3191256"/>
            <a:ext cx="11274552" cy="50292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91256"/>
            <a:ext cx="112745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EXECUTE  -  Razorpay Payments API + Resend email + ElevenLabs voice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39896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7A8599"/>
                </a:solidFill>
                <a:latin typeface="Calibri"/>
              </a:rPr>
              <a:t>Real Razorpay test-mode customer + payment link + HMAC-signed webhook. Real email via Resend. Real Hinglish voice via ElevenLabs.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4476" y="3666744"/>
            <a:ext cx="0" cy="292608"/>
          </a:xfrm>
          <a:prstGeom prst="line">
            <a:avLst/>
          </a:prstGeom>
          <a:ln w="31750">
            <a:solidFill>
              <a:srgbClr val="0B122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7200" y="3941063"/>
            <a:ext cx="11274552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941063"/>
            <a:ext cx="112745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LEDGER  -  hash-chained SQLite + Supabase mirror (9 tables, 4 Edge Functions)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89703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7A8599"/>
                </a:solidFill>
                <a:latin typeface="Calibri"/>
              </a:rPr>
              <a:t>Every action is a SHA-256 over the previous event's hash. /api/audit/verify returns chain_ok=true on 274 events.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B1220"/>
                </a:solidFill>
                <a:latin typeface="Calibri"/>
              </a:rPr>
              <a:t>Real Razorpay test-mode  /  4 seconds end-to-end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329184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27432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65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25C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Cadence Live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8599"/>
                </a:solidFill>
                <a:latin typeface="Consolas"/>
              </a:rPr>
              <a:t>http://127.0.0.1:3000/#/live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Click: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Calibri"/>
              </a:rPr>
              <a:t>the 3 step cards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Judge sees: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B1220"/>
                </a:solidFill>
                <a:latin typeface="Calibri"/>
              </a:rPr>
              <a:t>Real cust_*, real plink_*, RECOVERED in 4s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691640"/>
            <a:ext cx="27432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1691640"/>
            <a:ext cx="365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25C2A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6472" y="16916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Razorpay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8599"/>
                </a:solidFill>
                <a:latin typeface="Consolas"/>
              </a:rPr>
              <a:t>dashboard.razorpay.com/
app/payment-links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6432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Click: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6432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Calibri"/>
              </a:rPr>
              <a:t>Show the same plink_*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Judge sees: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B1220"/>
                </a:solidFill>
                <a:latin typeface="Calibri"/>
              </a:rPr>
              <a:t>Live Razorpay object - same 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1344" y="1691640"/>
            <a:ext cx="27432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18504" y="1691640"/>
            <a:ext cx="365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25C2A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544" y="16916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Gmail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8599"/>
                </a:solidFill>
                <a:latin typeface="Consolas"/>
              </a:rPr>
              <a:t>mail.google.com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Click: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8504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Calibri"/>
              </a:rPr>
              <a:t>Open the Hinglish nudge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18504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Judge sees: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B1220"/>
                </a:solidFill>
                <a:latin typeface="Calibri"/>
              </a:rPr>
              <a:t>Resend sent it - body in the inbox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43416" y="1691640"/>
            <a:ext cx="2743200" cy="54864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0576" y="1691640"/>
            <a:ext cx="365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25C2A"/>
                </a:solidFill>
                <a:latin typeface="Calibr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0616" y="1691640"/>
            <a:ext cx="21945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Cadence Test Lab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0576" y="2331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7A8599"/>
                </a:solidFill>
                <a:latin typeface="Consolas"/>
              </a:rPr>
              <a:t>http://127.0.0.1:3000/#/testlab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0576" y="27889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Click: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0576" y="297180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0B1220"/>
                </a:solidFill>
                <a:latin typeface="Calibri"/>
              </a:rPr>
              <a:t>Run 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324612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F25C2A"/>
                </a:solidFill>
                <a:latin typeface="Calibri"/>
              </a:rPr>
              <a:t>Judge sees: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33832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0B1220"/>
                </a:solidFill>
                <a:latin typeface="Calibri"/>
              </a:rPr>
              <a:t>5 seeds, mean +25.8%, Rs. 40,469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703320"/>
            <a:ext cx="11274552" cy="64008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3703320"/>
            <a:ext cx="11274552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0B1220"/>
                </a:solidFill>
                <a:latin typeface="Calibri"/>
              </a:rPr>
              <a:t>Real Razorpay customer  /  Real payment link  /  Real HMAC-signed webhook  /  Real Hinglish voice  /  Real email  /  Real hash-chained audit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526280"/>
            <a:ext cx="11274552" cy="18288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25C2A"/>
                </a:solidFill>
                <a:latin typeface="Calibri"/>
              </a:rPr>
              <a:t>WHAT TO SAY IN 10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49377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Watch: a Razorpay payment fails, the LLM writes a Hinglish body, the engine creates a real payment link, Resend sends the email, ElevenLabs reads it aloud, the audit ledger hashes every step. The journey closes RECOVERED in four seconds.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1" i="0">
                <a:solidFill>
                  <a:srgbClr val="0B1220"/>
                </a:solidFill>
                <a:latin typeface="Calibri"/>
              </a:rPr>
              <a:t>Measured on the demo cohort, 5 seeds, 50 subs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320040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6400" b="1" i="0">
                <a:solidFill>
                  <a:srgbClr val="0B1220"/>
                </a:solidFill>
                <a:latin typeface="Calibri"/>
              </a:rPr>
              <a:t>+25.8%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MEAN RECOVERY LIFT OVER RAZORPAY SMART RETRIES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291839"/>
            <a:ext cx="365760" cy="18288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70831" y="17830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6400" b="1" i="0">
                <a:solidFill>
                  <a:srgbClr val="0B1220"/>
                </a:solidFill>
                <a:latin typeface="Calibri"/>
              </a:rPr>
              <a:t>Rs. 40,469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1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RECOVERED ACROSS THE 5 COHORTS IN ONE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1" y="3291839"/>
            <a:ext cx="365760" cy="18288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4463" y="1783080"/>
            <a:ext cx="374903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6400" b="1" i="0">
                <a:solidFill>
                  <a:srgbClr val="0B1220"/>
                </a:solidFill>
                <a:latin typeface="Calibri"/>
              </a:rPr>
              <a:t>&lt; 4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4463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 i="0">
                <a:solidFill>
                  <a:srgbClr val="7A8599"/>
                </a:solidFill>
                <a:latin typeface="Calibri"/>
              </a:rPr>
              <a:t>FROM RAZORPAY WEBHOOK TO RECOVERED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84463" y="3291839"/>
            <a:ext cx="365760" cy="18288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7A8599"/>
                </a:solidFill>
                <a:latin typeface="Calibri"/>
              </a:rPr>
              <a:t>PER-SEED TRANSPARENCY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023360"/>
            <a:ext cx="1828800" cy="22860"/>
          </a:xfrm>
          <a:prstGeom prst="rect">
            <a:avLst/>
          </a:prstGeom>
          <a:solidFill>
            <a:srgbClr val="7A8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443484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2011680"/>
                <a:gridCol w="1828800"/>
                <a:gridCol w="2679192"/>
              </a:tblGrid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Seed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Razorpay default %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Cadence %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Lift Rs.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Winner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54.0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+6,503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/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70.0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+10,917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/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56.0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+6,202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/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62.0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+7,332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/>
                </a:tc>
              </a:tr>
              <a:tr h="261257">
                <a:tc>
                  <a:txBody>
                    <a:bodyPr/>
                    <a:lstStyle/>
                    <a:p>
                      <a:pPr algn="l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60.0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+6,700</a:t>
                      </a:r>
                    </a:p>
                  </a:txBody>
                  <a:tcPr marL="91440" marR="91440" marT="36576" marB="36576"/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0B1220"/>
                          </a:solidFill>
                          <a:latin typeface="Calibri"/>
                        </a:rPr>
                        <a:t>Cadence</a:t>
                      </a:r>
                    </a:p>
                  </a:txBody>
                  <a:tcPr marL="91440" marR="91440" marT="36576" marB="36576"/>
                </a:tc>
              </a:tr>
              <a:tr h="26125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Mean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48.0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60.4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+25.8%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B1220"/>
                          </a:solidFill>
                          <a:latin typeface="Calibri"/>
                        </a:rPr>
                        <a:t>every seed</a:t>
                      </a:r>
                    </a:p>
                  </a:txBody>
                  <a:tcPr marL="91440" marR="91440" marT="36576" marB="36576">
                    <a:solidFill>
                      <a:srgbClr val="E5E7EB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RAZORPAY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1" i="0">
                <a:solidFill>
                  <a:srgbClr val="0B1220"/>
                </a:solidFill>
                <a:latin typeface="Calibri"/>
              </a:rPr>
              <a:t>5 webhooks, 1 thin client, 0 mocks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56032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5641848" cy="4114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641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5 RAZORPAY EVENTS SUBSCRIBED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31720"/>
            <a:ext cx="5641848" cy="3200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51846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subscription.pending  -  new UPI AutoPay / card e-mandate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subscription.halted   -  customer paused the mandate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payment.failed        -  the bread-and-butter failure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payment.captured      -  recovery confirmation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payment_link.paid     -  the close-the-loop moment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45352" y="1828800"/>
            <a:ext cx="5641848" cy="41148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45352" y="1828800"/>
            <a:ext cx="5641848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WHY THIS IS HARD TO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331720"/>
            <a:ext cx="5641848" cy="320040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468880"/>
            <a:ext cx="5184648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Live HTTP client (no Razorpay SDK mocking) - the demo creates a real cust_*, real plink_*, reads it back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HMAC-SHA256 signature verification on every webhook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9-rule Guardian incl. NPCI 18-h UPI cooling - hand-rolled scripts don't pass compliance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Hash-chained audit ledger - chain_ok=true on 274 events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sz="1200" b="0">
                <a:solidFill>
                  <a:srgbClr val="0B1220"/>
                </a:solidFill>
                <a:latin typeface="Calibri"/>
              </a:rPr>
              <a:t>•  Adapter pattern: 1 day to onboard a new PSP, not 6 months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F25C2A"/>
                </a:solidFill>
                <a:latin typeface="Calibri"/>
              </a:rPr>
              <a:t>Built on Razorpay  /  Open-source  /  MIT licensed  /  github.com/JoelDlima/Revive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Cadence  •  Razorpay Buildathon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6539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sz="900" b="0" i="0">
                <a:solidFill>
                  <a:srgbClr val="7A8599"/>
                </a:solidFill>
                <a:latin typeface="Calibr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45720" cy="45720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7315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7A8599"/>
                </a:solidFill>
                <a:latin typeface="Calibri"/>
              </a:rPr>
              <a:t>THE 5-MIN RUNBOOK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0B1220"/>
                </a:solidFill>
                <a:latin typeface="Calibri"/>
              </a:rPr>
              <a:t>Read the left column. Do what's in the middle. Say what's in the right.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2194560" cy="2286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91640"/>
          <a:ext cx="112745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383280"/>
                <a:gridCol w="6976872"/>
              </a:tblGrid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T+</a:t>
                      </a:r>
                    </a:p>
                  </a:txBody>
                  <a:tcPr marL="91440" marR="91440" marT="27432" marB="27432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Click</a:t>
                      </a:r>
                    </a:p>
                  </a:txBody>
                  <a:tcPr marL="91440" marR="91440" marT="27432" marB="27432"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Say</a:t>
                      </a:r>
                    </a:p>
                  </a:txBody>
                  <a:tcPr marL="91440" marR="91440" marT="27432" marB="27432">
                    <a:solidFill>
                      <a:srgbClr val="0B1220"/>
                    </a:solidFill>
                  </a:tcPr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00:00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Live Recovery page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Cadence recovers failed Indian recurring payments autonomously on Razorpay.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00:15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Step 1 (Create customer)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A real Razorpay test-mode customer, not a Faker simulator.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00:30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Step 2 (Create link + failure)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A real payment link + an HMAC-signed payment.failed webhook.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01:00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Step 3 (Simulate paid)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Watch the center card flip from INTERVENING to RECOVERED in 4 seconds.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01:15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Razorpay Dashboard tab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Same plink_* id - I can prove the customer is real in 1 click.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01:30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Send the Hinglish nudge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The LLM wrote the body. The engine sent the email. Watch my Gmail.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02:00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Play the audio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ElevenLabs reads the same body. Real voice, not a stub.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02:30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Test Lab (Run comparison)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5 seeds, 50 subs each. Mean uplift +25.8%.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03:00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Inject 3 NO_FUNDS drill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The anomaly card lights up on Overview. Cadence will not chase these for 4 hours.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03:30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Journeys &amp; Audit drawer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I saw / I considered / I acted. Hash-chained audit.</a:t>
                      </a:r>
                    </a:p>
                  </a:txBody>
                  <a:tcPr marL="91440" marR="91440" marT="27432" marB="27432"/>
                </a:tc>
              </a:tr>
              <a:tr h="316523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04:00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Red STOP button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Engine stops in 1 second. Banner appears. Stopping rules, made visible.</a:t>
                      </a:r>
                    </a:p>
                  </a:txBody>
                  <a:tcPr marL="91440" marR="91440" marT="27432" marB="27432"/>
                </a:tc>
              </a:tr>
              <a:tr h="31652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F25C2A"/>
                          </a:solidFill>
                          <a:latin typeface="Consolas"/>
                        </a:rPr>
                        <a:t>04:20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(closing line)</a:t>
                      </a:r>
                    </a:p>
                  </a:txBody>
                  <a:tcPr marL="91440" marR="91440" marT="27432" marB="27432"/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0B1220"/>
                          </a:solidFill>
                          <a:latin typeface="Calibri"/>
                        </a:rPr>
                        <a:t>Razorpay fires a webhook. Cadence does the rest. +25.8%. Thank you.</a:t>
                      </a:r>
                    </a:p>
                  </a:txBody>
                  <a:tcPr marL="91440" marR="91440" marT="27432" marB="27432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solidFill>
            <a:srgbClr val="F2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4552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400" b="1" i="0">
                <a:solidFill>
                  <a:srgbClr val="0B1220"/>
                </a:solidFill>
                <a:latin typeface="Calibri"/>
              </a:rPr>
              <a:t>THE ASK:  2 design-partner pilots  /  github.com/JoelDlima/Revive  /  joelinternshipaitd@gmail.com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